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İTÜ İklim Bilimi ve Meteoroloji Mühendisliği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BEAEA"/>
                </a:solidFill>
                <a:latin typeface="Segoe UI"/>
              </a:rPr>
              <a:t>Tüm Veri Tabloları · 8 Rapordan Derlenmiş Referans Deste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01 · İSTATİSTİK VE KARŞILAŞTIRMA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2.1 Yıllara Göre Taban Puanı, Başarı Sıralaması ve Kontenjan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0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223"/>
                <a:gridCol w="1130876"/>
                <a:gridCol w="1382182"/>
                <a:gridCol w="1382182"/>
                <a:gridCol w="2136100"/>
                <a:gridCol w="1884794"/>
                <a:gridCol w="1256529"/>
                <a:gridCol w="1005223"/>
              </a:tblGrid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Yıl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Taban Puanı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Tavan Puanı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Başarı Sıralaması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Genel Kontenjan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Yerleşen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Doluluk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105590272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417,86283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449,32700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64.918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45 (+2 ÖB)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%100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2023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105510529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432,85539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463,42614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74.276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50-52 (+2 ÖB)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%100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105510529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418,51153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465,33514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86.223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70-72 (+2 ÖB)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%100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2021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105510529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346,36802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392,86765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96.225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70-72 (+2 ÖB)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%100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105510529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bulunamadı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bulunamadı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2019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105510529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364,78140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95.644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bulunamadı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9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01_RAPOR_istatistik_ve_karsilastirma.md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 İTÜ İçi Karşılaştırma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985"/>
                <a:gridCol w="4587943"/>
                <a:gridCol w="1433732"/>
                <a:gridCol w="1290359"/>
                <a:gridCol w="1433732"/>
                <a:gridCol w="1290359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Bölüm (İTÜ)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2024 Taban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2024 Sıra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2023 Taban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2023 Sıra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Jeofizik Müh.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389,730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93.780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401,989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108.207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Jeoloji Müh.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392,162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91.081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411,510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96.973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Maden Müh.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408,273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74.165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422,628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84.889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İklim Bilimi ve Meteoroloji Müh.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417,863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64.918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432,855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74.276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Çevre Müh. (Türkçe)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422,305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61.004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441,722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65.885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Gıda Müh.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432,436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52.274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457,607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51.366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İnşaat Müh. (Türkçe)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437,879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47.786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452,461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55.834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Kimya Müh.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492,443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13.547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501,963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17.442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Elektrik Müh. (Türkçe)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507,818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7.721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514,734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10.348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Makine Müh. (Türkçe)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508,639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7.430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515,672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9.886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01_RAPOR_istatistik_ve_karsilastirma.md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 İTÜ İçi Karşılaştırma (devam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0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58"/>
                <a:gridCol w="5059026"/>
                <a:gridCol w="1331322"/>
                <a:gridCol w="1198190"/>
                <a:gridCol w="1331322"/>
                <a:gridCol w="1198190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Bölüm (İTÜ)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2024 Taban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2024 Sıra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2023 Taban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2023 Sıra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Uzay Müh. (İng.)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518,398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4.686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525,341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Endüstri Müh. (Türkçe)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519,843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4.344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529,981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4.111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Elektronik ve Haberleşme Müh. (Türkçe)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522,831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3.658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530,138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4.061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Uçak Müh. (İng.)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526,272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2.963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531,598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3.611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Bilgisayar Müh. (İng.)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536,308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1.348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542,060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000" b="0">
                          <a:solidFill>
                            <a:srgbClr val="660000"/>
                          </a:solidFill>
                          <a:latin typeface="Segoe UI"/>
                        </a:rPr>
                        <a:t>1.147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01_RAPOR_istatistik_ve_karsilastirma.md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4.1 Programı Olan Üniversiteler (yüksek güven)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792"/>
                <a:gridCol w="4341678"/>
                <a:gridCol w="2105056"/>
                <a:gridCol w="1973490"/>
                <a:gridCol w="1184094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Üniversite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2024 Taban (SAY)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2024 Sıralama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Kontenjan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İTÜ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İklim Bilimi ve Meteoroloji Müh.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417,863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64.918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Samsun Üniv.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Meteoroloji Müh.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~325 (d.g.)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~195.000 (d.g.)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~52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Adana ATÜ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Meteoroloji Müh. (2025'te açıldı)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yeni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01_RAPOR_istatistik_ve_karsilastirma.md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5.1 İTÜ'nün Amiral Gemisi Takımları (kıyas için)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293"/>
                <a:gridCol w="2178528"/>
                <a:gridCol w="3485645"/>
                <a:gridCol w="3485645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Takım/Kulüp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Alan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Sosyal Medya Görünürlüğü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Başarı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İTÜ 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Formula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~10K+ 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Uluslararası dereceler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İTÜ Rover Team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Mars rover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~5K+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URC dünya çapında derece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ARI Takımı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birkaç 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TEKNOFEST dereceleri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İTÜ GreenPower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Elektrikli araç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birkaç bin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İTÜ Solar 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Güneş arabası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birkaç 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01_RAPOR_istatistik_ve_karsilastirma.md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03b · KONU AKIŞI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1. Giriş: Müfredatın 5 Tematik Omurgası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584"/>
                <a:gridCol w="2207193"/>
                <a:gridCol w="4267240"/>
                <a:gridCol w="4120093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Omurga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Çekirdek Soru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Ana Dersler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Matematik–Fizik Temeli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"Atmosferi tanımlayan denklemleri nasıl kurar ve çözerim?"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MAT103/104, MAT210, MAT271, MAT202, FIZ101/102, AKM204E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Atmosfer Fiziği &amp; Termodinamik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"Hava neden ısınır, soğur, yoğuşur, yağar?"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MTO214, MTO225, MTO229E, MTO254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Atmosfer Dinamiği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"Hava neden ve nasıl hareket eder?"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MTO337, MTO340, MTO303E, MTO426E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Gözlem &amp; Veri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"Atmosferi nasıl ölçer ve veriyi nasıl işlerim?"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MTO112, MTO301, MTO311E, MTO223, MTO222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Uygulama &amp; Tahmin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"Tüm bunları bir hava tahminine nasıl dönüştürürüm?"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MTO302, MTO406, MTO406-NWP, MTO304, MTO4901/4902, MTO494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Omurga A — Matematik–Fizik Temeli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040"/>
                <a:gridCol w="3878535"/>
                <a:gridCol w="3878535"/>
              </a:tblGrid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Tohumlanan Konu (Kaynak Ders)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Kullanıldığı Yer (Hedef Ders)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Somut Eşleştirme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MAT103/104 çok değişkenli türev, vektör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toplam türev, küresel koordinat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d/dt = ∂/∂t + V·∇ operatörü MAT104 gradyan/diverjanstan gelir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MAT210 ODE/PDE, Fourier, Laplace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 hiperbolik/parabolik/eliptik PDE; MTO340 dalga denklemleri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PDE sınıflandırması doğrudan MAT210'dan taşınır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 olasılık/istatistik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 regresyon/zaman serisi; MTO222 birim hidrograf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Dağılımlar ve hipotez testi MTO311E'nin ön koşuludur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MAT202 sayısal yöntemler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 sonlu farklar, Runge-Kutta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RK4 ve ayrıklaştırma şemaları MAT202'de öğrenilir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FIZ101 mekanik (Newton yasaları)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hareket denklemi, Coriolis/merkezkaç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Atmosferdeki kuvvet dengesi FIZ101 dinamiğinin uzantısıdır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FIZ102 elektromanyetizma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 EM spektrum; MTO301 radyatif transfer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Maxwell/EM dalga kavramı radyasyon derslerinin temelidir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AKM204E Bernoulli, süreklilik, momentum, sınır tabaka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süreklilik denklemi; MTO303E korunum denklemleri; MTO426E sınır tabaka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Süreklilik denklemi AKM204E'den MTO337'ye birebir taşınır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Omurga B — Atmosfer Fiziği &amp; Termodinamik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7935"/>
                <a:gridCol w="3310789"/>
                <a:gridCol w="4414386"/>
              </a:tblGrid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Tohumlanan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Kullanıldığı Yer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Somut Eşleştirme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düşey kararlılık, kuru/nemli adyabat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termodinamik diyagram/şiddetli hava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Skew-T kararsızlığı → CAPE/CIN ve konvektif fırtına potansiyeli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Skew-T diyagramları, atmosfer statiği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statik kararlılık, hidrostatik denklem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Statik kararlılık parametresi (σ) MTO214'ten MTO340 omega denklemine geçer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suyun/nemli havanın termodinamiği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MTO229E Clausius-Clapeyron, Köhler eğrileri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C-C denklemi MTO214 doygunluk basıncını MTO229E çekirdeklenmeye bağlar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 termal radyasyon yasaları, sera etkisi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MTO254 iklim süreçleri, iklim değişikliği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Radyatif zorlama MTO254 projeksiyonlarının fiziksel temelidir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 gaz absorpsiyonu, Rayleigh/Mie saçılma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 radyatif transfer, atmosferik pencere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Saçılma teorisi uzaktan algılamanın çekirdeğidir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MTO229E yağış mekanizmaları, Bergeron-Findeisen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MTO222 yağış-akış; MTO302 şiddetli hava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Mikrofizik → makro ölçek yağış girişi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Omurga C — Atmosfer Dinamiği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880"/>
                <a:gridCol w="3413027"/>
                <a:gridCol w="4139203"/>
              </a:tblGrid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Tohumlanan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Kullanıldığı Yer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Somut Eşleştirme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jeostrofik denklem, hidrostatik denge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jeostrofik/ageostrofik rüzgar, kinematik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Jeostrofik yaklaşım el analizinin matematiksel dayanağı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süreklilik, iraksama/yakınsama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Dines uyumu (iraksama-vortisite)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Diverjans profili Dines mekanizmasına bağlanır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termodinamik enerji denklemi, jeopotansiyel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 termal rüzgar, QG teorisi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Jeopotansiyel kalınlığı → termal rüzgar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 vortisite/sirkülasyon teoremi, PV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QG omega + izentropik (PV) analiz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Potansiyel vortisite korunumu siklon gelişiminin anahtarı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 omega denklemi, baroklinik kararsızlık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Sutcliffe gelişim, siklon doğumu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Baroklinik kararsızlık → orta enlem siklon doğuşu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 Rossby/gravity dalgaları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Rossby dalgaları; MTO406 jet dinamiği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Rossby dalga teorisi sinoptik dalga analizine taşınır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sınır tabaka kavramı (statik kararlılık)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MTO426E Monin-Obukhov, eddy kovaryans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Kararlılık → yüzey akı parametrizasyonu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Omurga D — Gözlem &amp; Veri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351"/>
                <a:gridCol w="4414386"/>
                <a:gridCol w="3899374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Tohumlanan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Kullanıldığı Yer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Somut Eşleştirme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MTO112 sensör/radar/veri toplayıcı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 radar/lidar/uydu sensörleri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Alet bilgisi uzaktan algılama platformlarına genişler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MTO112 basınç/sıcaklık/nem gözlemi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istasyon modelleri, el analizi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Ham gözlem → sinoptik harita girdisi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MTO223 R, GrADS, Ferret, NCAR 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 zaman serisi görselleştirme; MTO406 NWP ürün görselleştirme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GrADS ile model çıktısı haritalama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 zaman serisi, trend, homojenlik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MTO254 iklim veri/trend; MTO222 hidrolojik veri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Trend analizi iklim değişikliği tespitinde kullanılır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 görüntü işleme, 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MTO302/406 uydu yorumlama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RGB kompozit sinoptik vaka analizinde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Omurga E — Uygulama &amp; Tahmin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201"/>
                <a:gridCol w="4025920"/>
                <a:gridCol w="3846990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Tohumlanan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Kullanıldığı Yer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Somut Eşleştirme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el analizi, sinoptik sistemler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sinoptik klimatoloji, vaka çalışmaları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Manuel analizden objektif/NWP analize geçiş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vortisite, cepheler/kuru hat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siklon doğumu, izentropik analiz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Cephe analizi → siklon yaşam döngüsü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NWP ürünleri, objektif analiz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MTO4901/4902 tasarım projesi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Model değerlendirme projesi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Tüm omurgalar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 araştırma projesi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Bütünleşik mühendislik uygulaması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MTO304 METAR/TAF, ICAO atmosferi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(MTO302 ile paralel uygulama)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Operasyonel kodlama becerisi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 Öğrenci için Hazırlık Rehberi ("X dersini alırken Y'yi tazele")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98"/>
                <a:gridCol w="5201447"/>
                <a:gridCol w="5028065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Alınan Ders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Önce Tazele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Neden / Hangi Konuda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FIZ101 (ısı/iş), MAT103 (türev-integral)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Termodinamik yasaları integral/diferansiyel formda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FIZ102 (EM dalga), MAT104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Planck/Stefan-Boltzmann ve spektral integraller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MTO229E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(doygunluk, nemli termo)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Clausius-Clapeyron ve Köhler eğrileri için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MAT104 (gradyan/diverjans), MAT210, AKM204E, FIZ101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Toplam türev, küresel koordinat, süreklilik, Coriolis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(jeostrofi, vortisite), MAT210 (dalga denklemi)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Termal rüzgar, Rossby dalgaları, QG teorisi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MAT210 (PDE sınıfı), MAT202 (sayısal), AKM204E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Hiperbolik/parabolik PDE, RK4, korunum denklemleri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 (saçılma/absorpsiyon), FIZ102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Radyatif transfer ve atmosferik pencere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 (olasılık/dağılım)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Regresyon, hipotez testi, zaman serisi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(Skew-T/kararlılık), MTO337 (jeostrofi/vortisite), MTO112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Termodinamik diyagram + dinamik tanılama + istasyon modeli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 (sinoptik analiz), MTO340 (QG/omega/baroklinik)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Siklon doğumu, Sutcliffe gelişim, izentropik analiz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 Öğrenci için Hazırlık Rehberi ("X dersini alırken Y'yi tazele") (devam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97"/>
                <a:gridCol w="4741639"/>
                <a:gridCol w="4652174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Alınan Ders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Önce Tazele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Neden / Hangi Konuda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MTO426E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 (sınır tabaka/kararlılık), AKM204E (türbülans)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Monin-Obukhov, logaritmik profil, eddy kovaryans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MAT271, MTO229E (yağış mekanizması)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Yağış-akış, birim hidrograf, istatistiksel hidroloji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 (sera etkisi), MTO311E (trend)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Radyatif zorlama + iklim trend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 (statik atmosfer), MTO302 (sinoptik)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ICAO atmosferi, türbülans/buzlanma/sis tahmini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MTO4901/4902, MTO494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+ MTO303E + MTO311E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Bütünleşik model/veri/analiz uygulaması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 Özet Tablo: Ders → Besleyen Dersler → Beslediği Dersler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69"/>
                <a:gridCol w="4193667"/>
                <a:gridCol w="6021675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Ders Kodu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Besleyen Dersler (Ön Koşul / Hazırlık)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Beslediği Dersler (Hedef)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MTO111E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 (giriş)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MTO214, MTO225, MTO337, MTO254, MTO302 (kavramsal tohum)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FIZ101, MAT103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MTO229E, MTO337, MTO302, MTO304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FIZ102, MAT104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MTO301, MTO254, MTO426E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MTO229E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MTO222, MTO302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MTO225, MTO311E, MTO111E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 (proje)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MAT104, MAT210, AKM204E, FIZ101, MTO214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MTO340, MTO302, MTO303E, MTO426E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MTO337, MAT210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MTO406, 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MAT210, MAT202, AKM204E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(NWP), MTO4901/4902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MTO225, FIZ102, MTO112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MTO302, MTO406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MTO254, MTO222, MTO406, MTO494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 Özet Tablo: Ders → Besleyen Dersler → Beslediği Dersler (devam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835"/>
                <a:gridCol w="5119978"/>
                <a:gridCol w="4446297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Ders Kodu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Besleyen Dersler (Ön Koşul / Hazırlık)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Beslediği Dersler (Hedef)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MTO337/340, MTO214, MTO112, MTO301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MTO406, MTO304, MTO4901/4902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MTO302, MTO340, MTO303E, MTO223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MTO4901/4902, MTO494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MTO214, 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(operasyonel uygulama)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MTO426E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MTO337, AKM204E, MTO225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 (proje)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MAT271, MTO229E, MTO311E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 (proje)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MTO112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 (temel gözlem)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MTO301, MTO302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 (araç)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MTO311E, MTO406, MTO254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MTO4901/4902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MTO406, MTO303E, MTO311E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Tüm omurgalar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 (capstone)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MAT103/104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MTO337, MTO225, tüm dinamik/fizik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 Özet Tablo: Ders → Besleyen Dersler → Beslediği Dersler (devam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32"/>
                <a:gridCol w="5448182"/>
                <a:gridCol w="4301196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Ders Kodu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Besleyen Dersler (Ön Koşul / Hazırlık)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Beslediği Dersler (Hedef)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MAT103/104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MTO303E, MTO337, MTO340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MAT271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MTO311E, MTO222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FIZ101/102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MTO214, MTO225, MTO337, MTO301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AKM204E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MAT103/104, FIZ101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MTO337, MTO303E, MTO426E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03b_KONU_AKIS_aciklama.md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04 · İŞ OLANAKLARI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0. Önce müfredat: İTÜ ne öğretiyor?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660"/>
                <a:gridCol w="9867451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Dönem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Çekirdek meslek dersleri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Introduction to Atmospheric Sciences, Meteoroloji Alet &amp; Gözlem Usulleri, Programlama: Python (1. yarıyıl) ve Fortran (2. yarıyıl)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3–4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Güneş ve Yer Radyasyonu, Hidroloji, Atmosfer Termodinamiği, İklim Bilimi, Numerical Methods, Akışkanlar Mekaniği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 Dinamiği I, Physics of Clouds &amp; Precipitation, Meteoroloji Uzaktan Algılama, Data Analysis, Meteorolojide Hesaplamalı Akışkanlar Dinamiği (CFD)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 Analizi ve Öngörü I (Sinoptik), Havacılık Meteorolojisi, Atmosfer Dinamiği II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7–8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 Analizi ve Öngörü II, Meteoroloji Müh. Tasarımı I-II, Micrometeorology, Araştırma Projesi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04_RAPOR_is_olanaklari.md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 YURTDIŞINDAKİ BENZER LİSANS PROGRAMLARI ve İTÜ'DEN FARKLAR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174"/>
                <a:gridCol w="3993968"/>
                <a:gridCol w="3993968"/>
              </a:tblGrid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Müfredat odağı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İTÜ ile fark / öne çıkan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U. of Oklahoma, School of Meteorology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Çekirdek meteoroloji + saha; National Weather Center bünyesinde öğrenciye araştırma/yarı zamanlı iş. Storm chasing müfredat dışı, sadece fakülte liderliğinde güvenli bilimsel projelerde. 4+1 ile Meteoroloji BS + MBA/Data Science MS (OU SoM Handbook 2025-26)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NWC'de devasa operasyonel araştırma ekosistemi + entegre veri-bilimi yüksek lisansı; İTÜ'de bu ölçekte tek-çatı araştırma merkezi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Penn State, Meteorology &amp; Atmospheric Science BS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Min. 121 kredi; 6 uzmanlık opsiyonu: Atmospheric Science, Climate Science, Environmental Met., General, Weather Forecasting &amp; Communications, Weather Risk Management (EBF 473 enerji risk, METEO 460 hava-finans). Programlama zorunlu (Python/MatLab vb.) (Penn State Bulletin)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Lisansta finans/risk ve medya iletişimi uzmanlık rotaları; İTÜ tek-rota mühendislik + seçmeli, ayrı "weather risk/communications" rotası yok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MIT EAPS (Course 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 disiplinlerarası, veri-odaklı; UROP ile erken araştırma; sophomore'dan birleşik lisans/yüksek lisans dersleri. Geofizik bilimler ağırlıklı (MIT EAPS)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Saf operasyonel tahminden çok temel bilim/araştırma; İTÜ daha uygulamalı-mühendislik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U. of Reading (UK), BSc Meteorology &amp; Climate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RMetS onaylı; opsiyonel placement yılı (2.–son sınıf arası); Met Office, EDF Trading, Meteogroup'a staj. Atmosfer Bilimi'nde dünya 10., UK 1. (ShanghaiRanking 2025). Mezunların %92'si 15 ay içinde iş/eğitimde, tam zamanlıların %95'i lisans seviyesi rolde (Reading BSc; Reading kariyer verileri)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Met Office + ECMWF + NCAS aynı kampüste (ECMWF yeni HQ 2027'de Reading'e taşınıyor); sektörle fiziksel iç içelik İTÜ'de yok (RMetS)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92331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ETH Zürich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Lisansta ayrı meteoroloji yok; "Umweltnaturwissenschaften (Environmental Sciences)" içinde Atmosphere &amp; Climate uzmanlığı. Asıl uzmanlaşma MSc Atmospheric &amp; Climate Science (3 yarıyıl, sayısal hava/iklim modellemesi) (ETH IAC)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İTÜ lisansta doğrudan "meteoroloji mühendisliği" verir; ETH meteorolojiyi yüksek lisansa erteler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LMU München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"Physik plus Meteorologie" BSc: 120 ECTS fizik + 60 ECTS meteoroloji; 2. dönemden meteoroloji, Synoptik I-II, Fernerkundung (radar/lidar/uydu), 10 günlük planör-meteoroloji blok stajı (LMU Meteorologie)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Çok güçlü fizik temeli + havacılık-saha pratiği; İTÜ daha geniş mühendislik/yazılım, LMU daha derin fizik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04_RAPOR_is_olanaklari.md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 Müfredat → İş alanı eşleşme özeti (tek bakışta)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182"/>
                <a:gridCol w="5734929"/>
              </a:tblGrid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İTÜ dersi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Doğrudan iş alanı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 Analizi ve Öngörü I-II (Sinoptik), Atmosfer Dinamiği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MGM tahmin, Met Office/NWS operasyonel meteorolog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Havacılık Meteorolojisi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DHMİ/SHGM, THY-Pegasus dispeçer, meydan meteorolojisi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Hidroloji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DSİ, hidroelektrik, hidrometeoroloji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Güneş ve Yer Radyasyonu, Akışkanlar/CFD, Mikrometeoroloji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Rüzgâr/güneş enerjisi (Enerjisa, Borusan EnBW, Vestas, Ørsted) — resource assessment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Python/Fortran, Numerical Methods, Data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 hava tahmini (GraphCast/Aurora), ECMWF ML, özel firma veri analisti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İklim Bilimi, Bulut-Yağış Fiziği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Reasürans NatCat modelleme (Munich Re/Swiss Re), iklim araştırması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Meteoroloji Alet &amp; Gözlem, Uzaktan Algılama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Vaisala (cihaz), AKOM/AFAD gözlem ağı, uydu/radar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04_RAPOR_is_olanaklari.md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05 · AKADEMİSYENLER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HIZLI YÖNLENDİRME TABLOSU — "İlgi alanına göre hangi hoca?"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903"/>
                <a:gridCol w="4912208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İlgilendiğin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Gidebileceğin hoca(lar)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İklim modelleme / iklim değişikliği projeksiyonu (RegCM)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Yurdanur Ünal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 kirliliği / hava kalitesi / atmosferik modelleme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Hüseyin Toros, Ceyhan Kahya, Selahattin İncecik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Uzay havası / iyonosfer / uydu-uzay etkileşimi / CubeSat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Zerefşan Kaymaz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Rüzgar enerjisi / rüzgar atlası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Sibel Menteş, Ahmet Duran Şahin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Güneş enerjisi / güneş radyasyonu / 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Ahmet Duran Şahin, Burak Barutçu, H. Sema Topçu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Tarımsal/orman meteorolojisi, evapotranspirasyon, akıllı tarım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Levent Şaylan, Barış Çaldağ, Deniz Demirhan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Afet yönetimi / sel-kuraklık / erken uyarı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Mikdat Kadıoğlu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Havacılık meteorolojisi / türbülans / uçuş güvenliği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Ali Deniz, (uzay tarafı: Kaymaz)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Sayısal hava tahmini / WRF / atmosferik dinamik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Elçin Tan, Mikdat Kadıoğlu, Yurdanur Ünal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Atmosferik sınır tabaka / türbülans / mikrometeoroloji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Sibel Menteş, Selahattin İncecik, Levent Şaylan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05_RAPOR_akademisyenler_rehberi.md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HIZLI YÖNLENDİRME TABLOSU — "İlgi alanına göre hangi hoca?" (devam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903"/>
                <a:gridCol w="4912208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İlgilendiğin 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Gidebileceğin hoca(lar)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Ozon (troposferik/stratosferik) / radyasyon / atmosfer fiziği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H. Sema Topçu, Ceyhan Kahya, Selahattin İncecik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Atmosfer-okyanus etkileşimi / hidroklimatoloji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Elçin Tan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Yapay zeka / istatistiksel yöntemlerle meteoroloji tahmini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Ceyhan Kahya, Burak Barutçu, Ahmet Öztopal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05_RAPOR_akademisyenler_rehberi.md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06 · BÖLÜM TARİHÇESİ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Tarih Özet Tablosu (kesinlik notlarıyla)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108"/>
                <a:gridCol w="5218785"/>
                <a:gridCol w="3976217"/>
              </a:tblGrid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Tarih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Olay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Kesinlik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(Soruda geçen kuruluş)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Doğrulanamadı; muhtemelen yanlış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1953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Bölüm Elektrik Fakültesi'nde kuruldu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 (çok kaynak)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1971–72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Meteoroloji Müh. öğretime başladı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Tek kaynak; doğrulanmalı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1983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Uçak ve Uzay Bilimleri Fakültesi'ne geçiş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1985/2003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 serisinin öncülü/başlangıcı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Çelişkili; doğrulanmalı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1991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METAR kulübü kuruldu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ABET akreditasyonu (27–29 Nisan: 5. ATMOS)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2015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Atmosferik Modelleme Takımı kuruldu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Orta (tek kaynak)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4057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2024 (30 Mayıs)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İsim: İklim Bilimi ve Meteoroloji Müh.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24–26 Kasım 2025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1. Havacılık Meteorolojisi 360° Sempozyumu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06_RAPOR_bolum_tarihcesi.md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Tarih Özet Tablosu (kesinlik notlarıyla) (devam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339"/>
                <a:gridCol w="5885848"/>
                <a:gridCol w="2942924"/>
              </a:tblGrid>
              <a:tr h="242316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Tarih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Olay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Kesinlik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242316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23–24 Kasım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2. Havacılık Meteorolojisi 360° (planlı)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Planlı; doğrulanmalı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06_RAPOR_bolum_tarihcesi.md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07 · VİZYON VE EYLEM PLANI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 Kritik 5 Eksik (sayılarla)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239"/>
                <a:gridCol w="3871077"/>
                <a:gridCol w="6451795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Eksik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Kanıt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Dijital görünürlük çöküşü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Kurumsal sosyal medya hesabı YOK; tek topluluk METAR LinkedIn ~141-258 takipçi = Bilgisayar Fakültesi'nin (~3.141) 1/22'si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Taban puanı ve prestij erozyonu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İTÜ'nün 15 mühendislik bölümü arasında alttan 4. (2024: 417,86 / 64.918. sıra); Bilgisayar Müh. ile ~63.000 sıra fark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Kontenjan daralması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70 (2022) → 45 (2024), ~%36 azalma (doluluk %100 olmasına rağmen)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AI/veri bilimi entegrasyonu yetersiz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Sektör AI'a kayarken (GraphCast ECMWF'i %90 değişkende geçti) müfredatta ML/AI sınırlı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Yarışma/proje takımı kültürü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İTÜ vitrin takımları (Rover, AUV dünya 1.'si, Racing, PARS) varken meteorolojinin yarışma takımı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 Yüksek Etkili 5 Öneri (öğrenci odaklı, sayılarla)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038"/>
                <a:gridCol w="5325291"/>
                <a:gridCol w="5147781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Öneri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Beklenen Etki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Öğrenci AI/Veri Bilimi Çalışma Grubu kurulması (ERA5 + 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12 ayda 20+ öğrencinin ML-meteoroloji portföyü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Hava Tahmini / Kaggle Yarışma Takımı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 yılda en az 2 uluslararası yarışmaya katılım, görünürlük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Dijital Görünürlük Atılımı (Instagram + LinkedIn + öğrenci içeriği)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18 ayda LinkedIn takipçisini 141 → 1.500+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ERA5 ile Öğrenci Proje Vitrini (GitHub portfolyo)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Mezunların CV'sinde somut proje; staj/iş dönüşümü artışı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Mezun Ağı + Seminer Serisi (MGM, ECMWF, enerji sektörü)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Yılda 8+ seminer, doğrudan staj/iş köprüsü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6.1 Faz 1 — 0-3 Ay (Ateşleme)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6027"/>
                <a:gridCol w="1863852"/>
                <a:gridCol w="1440249"/>
                <a:gridCol w="3642983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Eylem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Sorumlu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Kaynak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Çıktı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AI/Veri Bilimi Çalışma Grubu kuruluşu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Öğrenci koordinatörler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ERA5 + Colab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İlk 5 buluşma, 10+ üye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Sosyal medya hesaplarının açılması/canlandırılması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İçerik ekibi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Canva, telefon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Instagram + LinkedIn aktif, ilk 12 paylaşım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GitHub organizasyonu kurulması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Öğrenci liderler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GitHub (ücretsiz)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İlk 3 örnek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İlk mezun/sektör semineri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Etkinlik ekibi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Zoom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 seminer, 30+ katılımcı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6.2 Faz 2 — 3-12 Ay (Büyüme)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5258"/>
                <a:gridCol w="2756400"/>
                <a:gridCol w="1653840"/>
                <a:gridCol w="2047612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Eylem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Sorumlu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Kaynak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Çıktı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Kaggle/Yarışma takımının resmileşmesi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Yarışma çekirdek ekibi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Ücretsiz veri +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En az 1 yarışma katılımı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Proje Vitrini (Showcase) + dönem sergisi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Çalışma grubu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ERA5 + İTÜ lab verisi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15+ yayımlanmış proje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Aylık seminer serisinin kurumsallaşması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Etkinlik ekibi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Mevcut sektör ağı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6+ seminer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Sosyal medya 10x büyüme hamlesi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İçerik ekibi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Canva, içerik takvimi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LinkedIn 500+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"ML for Atmospheric Sciences" seçmeli önerisinin yönetime sunumu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Öğrenci temsilcileri + gönüllü hoca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Bu rapor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Müfredat komitesine teklif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6.3 Faz 3 — 1-3 Yıl (Kurumsallaşma ve Atılım)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912"/>
                <a:gridCol w="1649967"/>
                <a:gridCol w="1741632"/>
                <a:gridCol w="3391599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Eylem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Sorumlu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Kaynak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Çıktı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Yarışma takımının uluslararası dereceye oynaması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Yarışma takımı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Sponsorluk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Uluslararası katılım/derece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Erken araştırma programının kurumsallaşması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Bölüm + öğrenciler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6+ mevcut lab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2.-3. sınıf araştırma katılımı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Mezun ağının staj/iş motoruna dönüşmesi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Mezun ağı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Sektör ağı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Yıllık staj yerleştirme artışı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Görünürlük ve tanıtımın taban puana yansıması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Bölüm + öğrenciler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Bütünleşik strateji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Başarı sırasında ölçülebilir iyileşme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7. Beklenen Etki ve Başarı Göstergeleri (KPI)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829"/>
                <a:gridCol w="1883471"/>
                <a:gridCol w="1883471"/>
                <a:gridCol w="2354339"/>
              </a:tblGrid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Başlangıç (2026)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12 Ay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3 Yıl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LinkedIn takipçi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500+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1.500+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Aktif sosyal medya platformu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0 kurumsal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Yayımlanan öğrenci ML/veri projesi (GitHub)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50+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Katılınan veri/tahmin yarışması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1-2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4+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Yıllık seminer sayısı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düzensiz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AI/Veri Bilimi grubu aktif üye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20+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40+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Erken araştırmaya dahil alt sınıf öğrenci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düşük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düzenli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Başarı sırası (hedef)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64.918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iyileşme baskısı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ölçülebilir yükseliş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07_RAPOR_vizyon_eksikler_eylem_plani.md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08 · ÖĞRENCİ KILAVUZU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 "Hangi işi istiyorsan hangi derslere asıl yüklen" tablosu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185"/>
                <a:gridCol w="3079407"/>
                <a:gridCol w="2106963"/>
                <a:gridCol w="3403555"/>
              </a:tblGrid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Hedef kariyer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Olmazsa olmaz dersler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Seni öne çıkaran seçmeli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Gerçek hayattaki işin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Operasyonel tahminci (MGM)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MTO302, MTO406, MTO337, MTO340, MTO214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Radar/Uydu, İleri NWP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Günlük hava tahmini, şiddetli hava uyarısı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Havacılık meteoroloğu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MTO304, MTO214, MTO337, MTO301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Radar/Uydu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METAR/TAF/SIGMET, uçuş brifingi (DHMİ)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Rüzgar/güneş enerjisi uzmanı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MTO426, MTO225, MTO311, MTO223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Yenilenebilir Enerji Met.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Saha değerlendirme, üretim tahmini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Çevre / hava kalitesi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MTO426, MTO303, MTO337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Hava Kirliliği Met.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Dağılım modelleme, ÇED, kirlilik uyarısı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Su / taşkın mühendisi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MTO222, MTO229, MTO311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Tarımsal/Hidromet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Taşkın uyarısı, baraj işletme (DSİ)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Deniz meteoroloğu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AKM204, MTO337, MTO302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Deniz Meteorolojisi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Dalga tahmini, rota brifingi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İklim / Ar-Ge / akademi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MTO254, MTO340, MTO303, MTO311, MTO223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İklim Modelleme, İleri NWP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Projeksiyon, model geliştirme, makale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Tarım meteoroloğu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MTO426, MTO222, MTO254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Tarımsal Met.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Don/sulama/kuraklık, sigorta riski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484632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Veri bilimci / model geliştirici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MTO311, MTO303, MTO223, MAT271/202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İleri NWP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Tahmin algoritmaları, ML, model kurulumu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08_OGRENCI_DOSTU_kilavuz.md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09a · DERS İYİLEŞTİRME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1.1. Neden Bu Rapora İhtiyaç Var (Sayılarla)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8632"/>
                <a:gridCol w="3170016"/>
                <a:gridCol w="3874464"/>
              </a:tblGrid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Gösterge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Değer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Yorum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İTÜ-içi taban puanı sıralaması (15 müh. bölümü)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Alttan 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Aday tercih önceliğinde alt çeyrek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2024 taban puanı / başarı sırası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417,86 / 64.918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Yüksek-yetenek havuzunun dışında kalma riski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Kontenjan değişimi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70 → 45 (-%35,7)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Talep daralmasının kurumsal teyidi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Türkiye yıllık mezun (tahmini)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~120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Dar ve tek-işverene (MGM) bağımlı pazar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ABD atmosfer bilimci medyan maaşı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97.450 $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Alanın küresel değeri yüksek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ABD istihdam büyüme projeksiyonu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%1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Neredeyse durağan; AI baskısı belirgin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Operasyonel AI tahmin modelleri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GraphCast, GenCast, Aurora (2024-25)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Mesleğin teknolojik kırılma noktası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2.2. Metodoloji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174"/>
                <a:gridCol w="5933896"/>
                <a:gridCol w="2054040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Adım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Tekni̇k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Çıktı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1. Ön-koşul haritalama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Katalog dependency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Omurga zincirleri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2. Boşluk analizi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Saha-yetkinlik vs. katalog karşılaştırması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Eksik alan listesi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3. Pedagojik yeniden tasarım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Bloom taksonomisi (uygula/analiz et/üret seviyeleri)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İşleniş önerileri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4. İstihdam hizalama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Sektör araç/yetkinlik standardı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Proje tipleri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5. Etki tahmini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Niteliksel + niceliksel projeksiyon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Beklenen etki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3.1. Omurga Zincirleri (Dependency Chains)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870"/>
                <a:gridCol w="4193667"/>
                <a:gridCol w="3883025"/>
                <a:gridCol w="1475549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Zincir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Açıklama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Sağlamlık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A. Dinamik omurga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FIZ → MAT → MTO214 → MTO337 → MTO340 → MTO302 → MTO406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Programın belkemiği; termodinamik-dinamik-sinoptik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Güçlü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B. Mikrofizik omurga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MTO214 → MTO229; MTO225 (paralel)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Bulut/yağış/radyasyon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C. Sayısal omurga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MAT202 + AKM204 + MAT210 → MTO303 (CFD)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Modelleme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Zayıf bağlı (izole)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D. Veri/gözlem omurga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MAT271 → MTO311; MTO112 → MTO301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İstatistik, uzaktan algılama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Zayıf bağlı (izole)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3.3. Zayıf Bağlantılar ve Eksik Alanlar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7342"/>
                <a:gridCol w="4017884"/>
                <a:gridCol w="4017884"/>
              </a:tblGrid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Eksik/Zayıf Alan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Gözlem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CFD'nin izolasyonu (MTO303)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CFD, AKM/MAT'tan besleniyor ama MTO337/340 dinamiğiyle ve MTO406 NWP'siyle açık bağ kurulmamış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Öğrenci "sayısal model" ile "atmosfer dinamiği"ni ayrı dünyalar sanır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Veri analizinin izolasyonu (MTO311)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İstatistik dersi diğer derslerin veri ihtiyacını beslemiyor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Veri okuryazarlığı tek derse hapsolur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Python/modern veri yığını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Katalogda R, GrADS, Ferret, NCAR Graphics var; Python ekosistemi (xarray, MetPy, Cartopy) görünmüyor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Sektör/akademi standardı ile uyumsuzluk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AI/ML hava tahmini yok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GraphCast/GenCast/Aurora operasyonelken katalogda makine öğrenmesi/derin öğrenme yok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En kritik boşluk — mesleğin geleceğiyle doğrudan çelişiyor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Proje-temelli dikey entegrasyon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Tasarım dersleri (MTO4901/4902/494) son yıla sıkışmış; ara dersler proje üretmiyor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Portföy/kanıtlanabilir yetkinlik eksikliği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Bulut/HPC ve büyük-veri işleme yok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Reanaliz ve uydu verisi TB ölçeğinde; ölçeklenebilir işleme yetkinliği yok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İş ilanlarındaki "cloud/Dask/Zarr" beklentisi karşılanmaz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60579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Versiyon kontrolü / yeniden üretilebilirlik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Git, ortam yönetimi, kod hijyeni müfredatta görünmüyor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Mühendislik dışı kod alışkanlıkları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4.1. MTO337 — Atmosfer Dinamiği 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718"/>
                <a:gridCol w="2619467"/>
                <a:gridCol w="6044925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Geleneksel risk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 önerisi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Ölçek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Tahtada soyut mertebe atma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ERA5 alanından öğrencinin kendi ölçek tablosunu veriden hesaplaması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Coriolis/jeostrofik denge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Formül ezberi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ERA5 500 hPa jeopotansiyel + rüzgar üst üste bindirilip jeostrofik yaklaşımın "nerede tutup nerede koptuğu" görselleştirme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Süreklilik/hidrostatik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İzole denklemler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Python xarray ile gerçek veride iraksama ve hidrostatik dengeyi sayısal türevle test etme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4.2. MTO302 — Hava Analizi ve Öngörü I &amp; MTO406 — Hava Analizi ve Ön…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325"/>
                <a:gridCol w="8283786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Önerilen işleniş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El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Önce elle, sonra aynı haritayı Python/MetPy ile çizdirip karşılaştırma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NWP ürünleri (MTO406)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GFS/ECMWF açık verisi indirilip operasyonel ürün gibi yorumlanması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 tahmin (yeni)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GraphCast/GenCast çıktısı vs. fiziksel NWP vs. gerçekleşen üçlü karşılaştırması — mesleğin bugünü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Objektif analiz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Basit optimal interpolasyon/Kriging'in koddan deneyimlenmesi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4.3. MTO214 — Atmosfer Termodinamiği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620"/>
                <a:gridCol w="7712491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Skew-T diyagramı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Elle çizim + MetPy SkewT ile gerçek radyosonde (Wyoming arşivi) verisi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Düşey kararlılık (CAPE/CIN)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sondaj verisinden CAPE/CIN/LCL/LFC kodla hesaplatma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Nemli hava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Karışım oranı, çiy noktası vb. büyüklüklerin gerçek istasyon verisinden hesabı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4.4. AKM204E — Akışkanlar Mekaniği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235"/>
                <a:gridCol w="8222876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Akışkanlar kavramı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Atmosfer köprüsü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Süreklilik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İraksama-yakınsama (MTO302 Dines kompansasyonu)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Momentum denklemi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Navier-Stokes → atmosfer hareket denklemi (MTO337)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Sınır tabaka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Atmosferik sınır tabaka (MTO426)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Bernoulli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Basınç-rüzgar ilişkisi sezgisi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4.5. MTO303E — Hesaplamalı Akışkanlar Dinamiği (CFD)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934"/>
                <a:gridCol w="8084177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Sonlu farklar/CFL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Öğrencinin 1B adveksiyon denklemini sıfırdan kodlayıp CFL ihlalinde patlamayı gözlemlemesi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Konveksiyon-difüzyon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Sayısal difüzyon/dispersiyon hatasının görselleştirilmesi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 model köprüsü (yeni)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"Fiziksel çözücü vs. nöral PDE çözücü" mini-karşılaştırması — GraphCast'in neden ucuz ve neden riskli olduğunun matematiksel temeli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Atmosfer modeli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Basit sığ-su (shallow water) modeli kodlama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4.6. MTO311E — Veri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150"/>
                <a:gridCol w="7893961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Keşifsel analiz/regresyon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pandas/scikit-learn ile MGM istasyon verisi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Zaman serisi (frekans)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FFT ile mevsimsel/günlük döngülerin gerçek seriden çıkarılması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Homojenlik/trend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İklim serisinde kopma noktası ve Mann-Kendall trend testi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ML modülü (yeni)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Sıcaklık/yağış için regresyon + basit nöral ağ tahmin modeli; model doğrulama metrikleri (RMSE, ROC, skill score)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4.7. MTO301 — Uzaktan Algılama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718"/>
                <a:gridCol w="8602393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Görüntü işleme/RGB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GOES/MSG/Sentinel verisiyle RGB kompozit üretme (Python satpy)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Radar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radar verisinden yansıma/yağış tahmini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Radyatif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Kanal-sıcaklık ilişkisi üzerinden basit hesaplama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4.8. MTO254 — İklim Bilimi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325"/>
                <a:gridCol w="8283786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Telebağlantı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ENSO/NAO indeksleri ile Türkiye yağışı arasında korelasyon analizi (gerçek veri)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İklim projeksiyonları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CMIP6 çıktılarının indirilip Türkiye için downscale/yorumlanması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İklim sınıflaması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Köppen sınıflamasının kodla istasyon verisinden üretilmesi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4.9. MTO229E — Bulut ve Yağış Fiziği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609"/>
                <a:gridCol w="8493502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Köhler teorisi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Köhler eğrisinin kodla parametrik çizimi; kritik yarıçap/aşırı doygunluk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Damla büyümesi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Difüzyonel ve çarpışma-birleşme büyümesinin sayısal simülasyonu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Yağış mekanizmaları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Radar verisiyle sıcak/soğuk yağış süreçlerinin ayırt edilmesi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4.10. MTO426E — Mikrometeoroloji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8387334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Konu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Aktif öğrenme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Logaritmik profil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kule/istasyon verisinden rüzgar profili uydurma, z0 kestirimi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Eddy kovaryans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Yüksek frekanslı veri setinden ısı/momentum akısı hesabı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Yüzey enerji bütçesi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Gerçek istasyon verisiyle bütçe kapatma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5.1. Ortak Veri Seti Stratejisi: "Tek Veri, Dört Yıl"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711"/>
                <a:gridCol w="4774811"/>
                <a:gridCol w="3769588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Veri seti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Kullanan dersler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Sağladığı süreklilik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ERA5 reanaliz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MTO337, MTO340, MTO302, MTO406, MTO254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Dinamikten sinoptiğe aynı veri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MGM istasyon serileri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MTO311, MTO254, MTO112, MTO222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İstatistik + iklim + gözlem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Radyosonde (Wyoming)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MTO214, MTO229, 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Termodinamik + mikrofizik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Uydu/radar (GOES/MSG)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MTO301, MTO302, MTO229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Uzaktan algılama + sinoptik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5.2. Dikey Proje Zinciri: "Tek Vaka, Dört Katman"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67"/>
                <a:gridCol w="2123375"/>
                <a:gridCol w="7927269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Dönem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Ders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Vakaya eklenen katman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Vaka gününün Skew-T ve kararlılık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MTO337/340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Vortisite, jeostrofik denge, dalga analizi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El analizi + sinoptik teşhis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MTO406 + MTO311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QG/omega tanısı + NWP/AI doğrulama + istatistiksel skill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5.4. Yatay Yetkinlik Katmanı (Tüm Derslere Gömülü)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1592"/>
                <a:gridCol w="6571519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Yetkinlik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Nereye gömülür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Python (xarray/MetPy/Cartopy)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MTO223 yeniden tasarlanır + tüm derslere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Git/versiyon kontrolü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İlk programlama dersinden itibaren zorunlu teslim formatı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Yeniden üretilebilirlik (notebook/ortam)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Tüm proje teslimlerinin standardı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AI/ML temelleri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300" b="0">
                          <a:solidFill>
                            <a:srgbClr val="660000"/>
                          </a:solidFill>
                          <a:latin typeface="Segoe UI"/>
                        </a:rPr>
                        <a:t>MTO311 çekirdek + MTO303/406'da uygulama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6.2. Önerilen Ölçme Karması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404"/>
                <a:gridCol w="1614057"/>
                <a:gridCol w="922318"/>
                <a:gridCol w="5303331"/>
              </a:tblGrid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Bileşen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Mevcut (tipik)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Önerilen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Gerekçe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Yazılı sınav (kavram/türetme)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%35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Temel kavram denetimi korunur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Kod/veri portföyü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%30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Yeniden üretilebilir, kanıtlanabilir yetkinlik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Dönem projesi/vaka raporu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%25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Saha-benzeri sentez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Sözlü savunma/sunum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~%10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%10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İletişim yetkinliği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7. Uygulama Yol Haritası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657"/>
                <a:gridCol w="764657"/>
                <a:gridCol w="5734929"/>
                <a:gridCol w="3918868"/>
              </a:tblGrid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Vade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Süre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Eylemler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Maliyet/Zorluk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Kısa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0-12 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MTO223'ün Python'a çevrilmesi; tüm derslere ERA5/MGM tabanlı 2-3 lab eklenmesi; Git teslim standardı; ödevlerin "gerçek veri" zorunluluğu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Düşük — öğretim üyesi içi koordinasyon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1-3 yıl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MTO311'e ML modülü; MTO303-MTO406 entegre projesi; dikey "tek vaka" zincirinin pilotu; ölçme karmasının kademeli değişimi; MetPy/satpy/Cartopy laboratuvar altyapısı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Orta — müfredat komitesi kararı + altyapı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121158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Uzun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3-5 yıl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Seçmeli/zorunlu "AI ve Veri-Güdümlü Hava/İklim Tahmini" dersi; HPC/bulut atölyesi; MGM ve enerji sektörüyle staj/proje protokolleri; portföy-tabanlı bitirme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Yüksek — kadro + kurumsal ortaklık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8.1. Niceliksel Projeksiyon (Tahmini)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352"/>
                <a:gridCol w="2377512"/>
                <a:gridCol w="1408896"/>
                <a:gridCol w="3698352"/>
              </a:tblGrid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Gösterge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Mevcut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Hedef (3-5 yıl)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Mekanizma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MGM-dışı istihdam payı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Düşük (tek-işveren bağımlı)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Belirgin artış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Veri bilimi/enerji/iklim sektörü açılımı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Mezun "kod+veri" portföyü oranı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~%100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Portföy zorunluluğu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AI/ML okuryazarı mezun oranı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~%0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Çoğunluk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MTO311 + yeni 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Saha-hazır yetkinlik (işe alım sinyali)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Düşük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Yüksek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Gerçek-veri proje birikimi</a:t>
                      </a:r>
                    </a:p>
                  </a:txBody>
                  <a:tcPr>
                    <a:solidFill>
                      <a:srgbClr val="FBEAEA"/>
                    </a:solidFill>
                  </a:tcPr>
                </a:tc>
              </a:tr>
              <a:tr h="807720"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Programa aday ilgisi (taban puanı eğilimi)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Alttan 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İyileşme baskısı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r>
                        <a:rPr sz="1100" b="0">
                          <a:solidFill>
                            <a:srgbClr val="660000"/>
                          </a:solidFill>
                          <a:latin typeface="Segoe UI"/>
                        </a:rPr>
                        <a:t>"AI çağına hazır müfredat" konumlandırması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09a_TEKNIK_ders_iyilestirme_rapor.md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