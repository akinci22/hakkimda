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Başarı sırası</c:v>
                </c:pt>
              </c:strCache>
            </c:strRef>
          </c:tx>
          <c:spPr>
            <a:ln w="41275">
              <a:solidFill>
                <a:srgbClr val="990000"/>
              </a:solidFill>
            </a:ln>
          </c:spPr>
          <c:marker>
            <c:symbol val="circle"/>
            <c:size val="9"/>
            <c:spPr>
              <a:solidFill>
                <a:srgbClr val="990000"/>
              </a:solidFill>
              <a:ln>
                <a:solidFill>
                  <a:srgbClr val="99000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96225</c:v>
                </c:pt>
                <c:pt idx="1">
                  <c:v>86223</c:v>
                </c:pt>
                <c:pt idx="2">
                  <c:v>74276</c:v>
                </c:pt>
                <c:pt idx="3">
                  <c:v>64918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600" b="1">
                  <a:solidFill>
                    <a:srgbClr val="660000"/>
                  </a:solidFill>
                  <a:latin typeface="Segoe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5000.0"/>
          <c:min val="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BFBFBF"/>
            </a:solidFill>
          </c:spPr>
          <c:dPt>
            <c:idx val="3"/>
            <c:spPr>
              <a:solidFill>
                <a:srgbClr val="990000"/>
              </a:solidFill>
            </c:spPr>
          </c:dPt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72</c:v>
                </c:pt>
                <c:pt idx="2">
                  <c:v>52</c:v>
                </c:pt>
                <c:pt idx="3">
                  <c:v>45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 b="1">
                  <a:solidFill>
                    <a:srgbClr val="660000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BFBFBF"/>
            </a:solidFill>
          </c:spPr>
          <c:dPt>
            <c:idx val="3"/>
            <c:spPr>
              <a:solidFill>
                <a:srgbClr val="990000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660000"/>
                    </a:solidFill>
                    <a:latin typeface="Segoe UI"/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Sheet1!$A$2:$A$16</c:f>
              <c:strCache>
                <c:ptCount val="15"/>
                <c:pt idx="0">
                  <c:v>Jeofizik</c:v>
                </c:pt>
                <c:pt idx="1">
                  <c:v>Jeoloji</c:v>
                </c:pt>
                <c:pt idx="2">
                  <c:v>Maden</c:v>
                </c:pt>
                <c:pt idx="3">
                  <c:v>Meteoroloji</c:v>
                </c:pt>
                <c:pt idx="4">
                  <c:v>Çevre</c:v>
                </c:pt>
                <c:pt idx="5">
                  <c:v>Gıda</c:v>
                </c:pt>
                <c:pt idx="6">
                  <c:v>İnşaat</c:v>
                </c:pt>
                <c:pt idx="7">
                  <c:v>Kimya</c:v>
                </c:pt>
                <c:pt idx="8">
                  <c:v>Elektrik</c:v>
                </c:pt>
                <c:pt idx="9">
                  <c:v>Makine</c:v>
                </c:pt>
                <c:pt idx="10">
                  <c:v>Uzay</c:v>
                </c:pt>
                <c:pt idx="11">
                  <c:v>Endüstri</c:v>
                </c:pt>
                <c:pt idx="12">
                  <c:v>Elektronik-Hab.</c:v>
                </c:pt>
                <c:pt idx="13">
                  <c:v>Uçak</c:v>
                </c:pt>
                <c:pt idx="14">
                  <c:v>Bilgisayar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389.73</c:v>
                </c:pt>
                <c:pt idx="1">
                  <c:v>392.16</c:v>
                </c:pt>
                <c:pt idx="2">
                  <c:v>408.27</c:v>
                </c:pt>
                <c:pt idx="3">
                  <c:v>417.86</c:v>
                </c:pt>
                <c:pt idx="4">
                  <c:v>422.31</c:v>
                </c:pt>
                <c:pt idx="5">
                  <c:v>432.44</c:v>
                </c:pt>
                <c:pt idx="6">
                  <c:v>437.88</c:v>
                </c:pt>
                <c:pt idx="7">
                  <c:v>492.44</c:v>
                </c:pt>
                <c:pt idx="8">
                  <c:v>507.82</c:v>
                </c:pt>
                <c:pt idx="9">
                  <c:v>508.64</c:v>
                </c:pt>
                <c:pt idx="10">
                  <c:v>518.4</c:v>
                </c:pt>
                <c:pt idx="11">
                  <c:v>519.84</c:v>
                </c:pt>
                <c:pt idx="12">
                  <c:v>522.83</c:v>
                </c:pt>
                <c:pt idx="13">
                  <c:v>526.27</c:v>
                </c:pt>
                <c:pt idx="14">
                  <c:v>536.31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660000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Mevcut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Sheet1!$A$2:$A$5</c:f>
              <c:strCache>
                <c:ptCount val="4"/>
                <c:pt idx="0">
                  <c:v>Yazılı sınav</c:v>
                </c:pt>
                <c:pt idx="1">
                  <c:v>Kod/veri portföyü</c:v>
                </c:pt>
                <c:pt idx="2">
                  <c:v>Proje</c:v>
                </c:pt>
                <c:pt idx="3">
                  <c:v>Sunum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Önerilen</c:v>
                </c:pt>
              </c:strCache>
            </c:strRef>
          </c:tx>
          <c:spPr>
            <a:solidFill>
              <a:srgbClr val="990000"/>
            </a:solidFill>
          </c:spPr>
          <c:cat>
            <c:strRef>
              <c:f>Sheet1!$A$2:$A$5</c:f>
              <c:strCache>
                <c:ptCount val="4"/>
                <c:pt idx="0">
                  <c:v>Yazılı sınav</c:v>
                </c:pt>
                <c:pt idx="1">
                  <c:v>Kod/veri portföyü</c:v>
                </c:pt>
                <c:pt idx="2">
                  <c:v>Proje</c:v>
                </c:pt>
                <c:pt idx="3">
                  <c:v>Sunum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dLbls>
          <c:numFmt formatCode="&quot;%&quot;0" sourceLinked="0"/>
          <c:txPr>
            <a:bodyPr/>
            <a:lstStyle/>
            <a:p>
              <a:pPr>
                <a:defRPr sz="1300" b="1">
                  <a:solidFill>
                    <a:srgbClr val="660000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BFBFBF"/>
            </a:solidFill>
          </c:spPr>
          <c:dPt>
            <c:idx val="1"/>
            <c:spPr>
              <a:solidFill>
                <a:srgbClr val="990000"/>
              </a:solidFill>
            </c:spPr>
          </c:dPt>
          <c:dPt>
            <c:idx val="2"/>
            <c:spPr>
              <a:solidFill>
                <a:srgbClr val="990000"/>
              </a:solidFill>
            </c:spPr>
          </c:dPt>
          <c:cat>
            <c:strRef>
              <c:f>Sheet1!$A$2:$A$4</c:f>
              <c:strCache>
                <c:ptCount val="3"/>
                <c:pt idx="0">
                  <c:v>Bugün</c:v>
                </c:pt>
                <c:pt idx="1">
                  <c:v>12 ay</c:v>
                </c:pt>
                <c:pt idx="2">
                  <c:v>3 yıl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141</c:v>
                </c:pt>
                <c:pt idx="1">
                  <c:v>500</c:v>
                </c:pt>
                <c:pt idx="2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00" b="1">
                  <a:solidFill>
                    <a:srgbClr val="660000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İTÜ İklim Bilimi ve Meteoroloji Mühendisliği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BEAEA"/>
                </a:solidFill>
                <a:latin typeface="Segoe UI"/>
              </a:rPr>
              <a:t>Veriye Dayalı Durum Özeti ve Yol Haritası · Bölüm Yönetimi İçin ·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1 · TEŞHİS: SAYILAR NE SÖYLÜYOR?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Talep Var: Başarı Sırası 4 Yılda Belirgin İyileşti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Gelen öğrenci profili yükseliyor: 96 binden 65 bine.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Sıra küçüldükçe öğrenci profili güçlenir. Taban puan: 346 → 418. Kaynak: YÖK Atlas 2021-2024 — 01_RAPOR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783080"/>
          <a:ext cx="105156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Buna Rağmen Kontenjan Daraltıldı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Doluluk her yıl %100 — kontenjan yine de kesildi.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2021-2024 kontenjan; doluluk her yıl %100. Kaynak: YÖK Atlas — 01_RAPOR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783080"/>
          <a:ext cx="87782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0" y="2834640"/>
            <a:ext cx="2377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CC0000"/>
                </a:solidFill>
                <a:latin typeface="Segoe UI"/>
              </a:rPr>
              <a:t>−%36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İTÜ İçindeki Konum: Alttan 4. Sıra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15 mühendislik bölümü arasında taban puanda alttan 4'üncüyüz.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2024 taban puanları. Bilgisayar Müh. ile fark: ~118 puan / ~63.000 sıra. Kaynak: YÖK Atlas — 01_RAPOR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783080"/>
          <a:ext cx="105156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Dijital Görünürlük: Sıfır Noktası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Bölüm dijital dünyada neredeyse görünmez.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kurumsal sosyal medya hesabı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bölüme ait resmî hesap yok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024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1624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~141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1624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METAR LinkedIn takipçisi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1624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öğrenci kulübü hesabı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54568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7408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1/22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4568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İTÜ Bilgisayar-Bilişim'e göre görünürlük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4568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~3.141 takipçiye karşı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LinkedIn verileri (2026) — 07_RAPOR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2 · NEDEN ŞİMDİ: MESLEK YENİDEN TANIMLANIYOR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Yapay Zekâ, Hava Tahminini Dönüştürdü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Klasik tahmincilik yapay zekâ ile yeniden tanımlanıyor.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&lt;1 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GraphCast: 10 günlük küresel tahmin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tek makinede, dakikadan kısa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024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1624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%90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1624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1.380 değişkende ECMWF HRES'ten daha iyi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1624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DeepMind, Science 2023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54568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7408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2024-25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4568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ECMWF AIFS operasyonel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4568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yapay zekâ tahmini artık rutin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DeepMind GraphCast, ECMWF — 01_RAPOR / 04_RAPOR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Alan Çok Değerli, Geleneksel Rol Büyümüyor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Değer büyük; klasik tahminci rolü ise durgun.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97.450 $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ABD medyan yıllık maaş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BLS,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024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1624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+%1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1624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istihdam büyümesi (2024-2034)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1624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klasik meteorolog rolü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011680"/>
            <a:ext cx="3422904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54568" y="2331720"/>
            <a:ext cx="2965704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7408" y="2606040"/>
            <a:ext cx="324002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990000"/>
                </a:solidFill>
                <a:latin typeface="Segoe UI"/>
              </a:rPr>
              <a:t>&gt;100 mlr 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4568" y="4114800"/>
            <a:ext cx="29657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hava-iklim bilgisinin ABD ekonomisine yıllık değeri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4568" y="502920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NOAA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Mesaj: mezunu geleceğin rolüne (iklim + enerji + yapay zekâ) hazırlamak gerekiyor. Kaynak: BLS, NOAA — 04_RAPOR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Elimizde Az Bulunur Bir Varlık 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Köklü, akredite ve Türkiye'de neredeyse tek.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487168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2029968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304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990000"/>
                </a:solidFill>
                <a:latin typeface="Segoe UI"/>
              </a:rPr>
              <a:t>1953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20299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Türkiye'nin ilk meteoroloji mühendisliği bölümü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11680"/>
            <a:ext cx="2487168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75888" y="2331720"/>
            <a:ext cx="2029968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606040"/>
            <a:ext cx="2304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990000"/>
                </a:solidFill>
                <a:latin typeface="Segoe UI"/>
              </a:rPr>
              <a:t>ABET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4114800"/>
            <a:ext cx="20299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2011'den beri akredite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5029200"/>
            <a:ext cx="2029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2016'da yenilendi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011680"/>
            <a:ext cx="2487168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83096" y="2331720"/>
            <a:ext cx="2029968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606040"/>
            <a:ext cx="2304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990000"/>
                </a:solidFill>
                <a:latin typeface="Segoe UI"/>
              </a:rPr>
              <a:t>15+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4114800"/>
            <a:ext cx="20299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öğretim üyesi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5029200"/>
            <a:ext cx="2029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12+ uzmanlık alanı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2011680"/>
            <a:ext cx="2487168" cy="356616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0304" y="2331720"/>
            <a:ext cx="2029968" cy="548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606040"/>
            <a:ext cx="230428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990000"/>
                </a:solidFill>
                <a:latin typeface="Segoe UI"/>
              </a:rPr>
              <a:t>3'te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4114800"/>
            <a:ext cx="20299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60000"/>
                </a:solidFill>
                <a:latin typeface="Segoe UI"/>
              </a:rPr>
              <a:t>Türkiye'deki 3 programın en seçicisi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Uzay havası çalışmaları Türkiye'de yalnız İTÜ'de. 5+ laboratuvar: WRF, RegCM, iyonosonda, CubeSat. Kaynak: 05/06_RAPOR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1371600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3 · YOL HARİTASI: NE YAPMALI?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Müfredat Reformu: Ezberden Üretime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Ölçme karması sınavdan üretime kaydırılmalı.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Tespit edilen 7 eksik alan: Python, yapay zekâ/ML, Git, bulut/HPC, entegre proje zinciri… Kaynak: 09a_TEKNIK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783080"/>
          <a:ext cx="105156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Kademeli Uygulama: Düşük Maliyetle Başla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Reform radikal değil, kademeli: üç faz.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40080" y="1874519"/>
            <a:ext cx="10908792" cy="457200"/>
          </a:xfrm>
          <a:prstGeom prst="rightArrow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554480" cy="54864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0-12 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3422904" cy="320040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90000"/>
                </a:solidFill>
                <a:latin typeface="Segoe UI"/>
              </a:rPr>
              <a:t>Hemen, düşük maliyet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29657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Python + Git tüm derslere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Gerçek veriyle (ERA5) lab çalışması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Yapay zekâ / veri öğrenci grubu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3024" y="1828800"/>
            <a:ext cx="1554480" cy="54864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024" y="1874519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1-3 YIL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024" y="2606040"/>
            <a:ext cx="3422904" cy="320040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1624" y="278892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90000"/>
                </a:solidFill>
                <a:latin typeface="Segoe UI"/>
              </a:rPr>
              <a:t>Yapısal adımlar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1624" y="3291840"/>
            <a:ext cx="29657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Makine öğrenmesi modülü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Sınıflar arası entegre proje zinciri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Ölçme karması reformu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5968" y="1828800"/>
            <a:ext cx="1554480" cy="54864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5968" y="1874519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3-5 YIL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5968" y="2606040"/>
            <a:ext cx="3422904" cy="3200400"/>
          </a:xfrm>
          <a:prstGeom prst="round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4568" y="2788920"/>
            <a:ext cx="2965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90000"/>
                </a:solidFill>
                <a:latin typeface="Segoe UI"/>
              </a:rPr>
              <a:t>Kurumsal dönüşüm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4568" y="3291840"/>
            <a:ext cx="29657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Yapay zekâ destekli tahmin dersi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HPC / bulut altyapısı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660000"/>
                </a:solidFill>
                <a:latin typeface="Segoe UI"/>
              </a:rPr>
              <a:t>•  MGM ve enerji sektörü staj protokolleri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Kaynak: 09a_TEKNIK ders iyileştirme raporu — 3 fazlı yol haritası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Ölçülebilir Hedef: Görünürlükte 10 Kat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60000"/>
                </a:solidFill>
                <a:latin typeface="Segoe UI"/>
              </a:rPr>
              <a:t>Başarı, takip edilebilir hedeflere bağlanmalı.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0000"/>
                </a:solidFill>
                <a:latin typeface="Segoe UI"/>
              </a:rPr>
              <a:t>ⓘ LinkedIn takipçi hedefi (141 → 500+ → 1.500+). Ek hedef: kod/veri portföyü olan mezun oranı %0 → %100. Kaynak: 07_RAPOR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783080"/>
          <a:ext cx="105156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Sonuç: Karar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0" b="1">
                <a:solidFill>
                  <a:srgbClr val="990000"/>
                </a:solidFill>
                <a:latin typeface="Segoe UI"/>
              </a:rPr>
              <a:t>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660000"/>
                </a:solidFill>
                <a:latin typeface="Segoe UI"/>
              </a:rPr>
              <a:t>Bu bir yetenek krizi değil, konumlandırma krizi. Hedef: güçlü fizik temelini iklim, enerji ve yapay zekâ ile birleştirmek — kontenjan keserek değil, konumlandırarak büyümek.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